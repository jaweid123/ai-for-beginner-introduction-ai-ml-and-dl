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E75BAD-DB36-4955-9D29-532D9F1D5485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F2D805-5C37-45A7-9A6E-3075B89B0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28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F2D805-5C37-45A7-9A6E-3075B89B04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02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EE0B7-41A3-479B-95A9-CF68D7293608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8F21A-2D94-4D7B-A09C-0B53E553752C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15925-E6EE-40CE-8791-B329770505B9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CEC2-411B-4FF3-97F9-3BC38D2B8ACC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4ACF6-B2AD-4AD2-837F-DB9EACEB8C2E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879C6-5708-405D-867A-84C0758B1940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456B-FFEA-4071-9D03-71CDE6054E36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114C-B422-4381-9A01-9C9F86A4D936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D8969-4A6F-4F5F-A4E0-A915D3D4448E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786C-88BE-494B-B9FD-CCE1B7EC4B57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DE0F4-A4EA-4569-8656-C057EA3CE1F9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756C3-F240-4D74-A2FB-D1A707CCF5B0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D7325-F52A-4D4B-898D-35078965372B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3697B-F541-4B59-9D5B-731B075B3B61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4ECE-3FDA-4F78-A288-A97BAE212DDD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5BC05-765A-4BA1-9F53-EDE251008EE5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A4688-BBB6-4DF0-8ECF-10DFE32E6F13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92496" y="2891291"/>
            <a:ext cx="8915399" cy="739838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Introduction AI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0473" y="3687658"/>
            <a:ext cx="9149339" cy="234118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tx1"/>
                </a:solidFill>
              </a:rPr>
              <a:t>Introduction to Artificial </a:t>
            </a:r>
            <a:r>
              <a:rPr lang="en-US" sz="2800" b="1" dirty="0" smtClean="0">
                <a:solidFill>
                  <a:schemeClr val="tx1"/>
                </a:solidFill>
              </a:rPr>
              <a:t>Intelligence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tx1"/>
                </a:solidFill>
              </a:rPr>
              <a:t>Basics for non-computer science background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1"/>
                </a:solidFill>
              </a:rPr>
              <a:t>Prepared By: </a:t>
            </a:r>
            <a:r>
              <a:rPr lang="en-US" sz="2000" b="1" dirty="0" smtClean="0">
                <a:solidFill>
                  <a:schemeClr val="tx1"/>
                </a:solidFill>
              </a:rPr>
              <a:t>Jaweid Moradil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000" b="1" dirty="0" smtClean="0">
                <a:solidFill>
                  <a:schemeClr val="tx1"/>
                </a:solidFill>
              </a:rPr>
              <a:t>I am student at Kabul university ICT Faculty ISE department 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4990805" y="606637"/>
            <a:ext cx="2184911" cy="2183058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F0BC9-353F-4494-9A31-75D377907B9F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348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906650"/>
            <a:ext cx="8911687" cy="998349"/>
          </a:xfrm>
        </p:spPr>
        <p:txBody>
          <a:bodyPr/>
          <a:lstStyle/>
          <a:p>
            <a:r>
              <a:rPr lang="en-US" b="1" dirty="0" smtClean="0"/>
              <a:t>Outline	this course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▪ Introduction to Artificial Intelligence </a:t>
            </a:r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▪Importance </a:t>
            </a:r>
            <a:r>
              <a:rPr lang="en-US" b="1" dirty="0">
                <a:solidFill>
                  <a:schemeClr val="tx1"/>
                </a:solidFill>
              </a:rPr>
              <a:t>of Artificial </a:t>
            </a:r>
            <a:r>
              <a:rPr lang="en-US" b="1" dirty="0" smtClean="0">
                <a:solidFill>
                  <a:schemeClr val="tx1"/>
                </a:solidFill>
              </a:rPr>
              <a:t>Intelligence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 ▪Goals </a:t>
            </a:r>
            <a:r>
              <a:rPr lang="en-US" b="1" dirty="0">
                <a:solidFill>
                  <a:schemeClr val="tx1"/>
                </a:solidFill>
              </a:rPr>
              <a:t>of Artificial </a:t>
            </a:r>
            <a:r>
              <a:rPr lang="en-US" b="1" dirty="0" smtClean="0">
                <a:solidFill>
                  <a:schemeClr val="tx1"/>
                </a:solidFill>
              </a:rPr>
              <a:t>Intelligenc</a:t>
            </a:r>
            <a:r>
              <a:rPr lang="en-US" b="1" dirty="0">
                <a:solidFill>
                  <a:schemeClr val="tx1"/>
                </a:solidFill>
              </a:rPr>
              <a:t>e</a:t>
            </a:r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▪ </a:t>
            </a:r>
            <a:r>
              <a:rPr lang="en-US" b="1" dirty="0">
                <a:solidFill>
                  <a:schemeClr val="tx1"/>
                </a:solidFill>
              </a:rPr>
              <a:t>Advantages and </a:t>
            </a:r>
            <a:r>
              <a:rPr lang="en-US" b="1" dirty="0" smtClean="0">
                <a:solidFill>
                  <a:schemeClr val="tx1"/>
                </a:solidFill>
              </a:rPr>
              <a:t>Disadvantages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▪ </a:t>
            </a:r>
            <a:r>
              <a:rPr lang="en-US" b="1" dirty="0">
                <a:solidFill>
                  <a:schemeClr val="tx1"/>
                </a:solidFill>
              </a:rPr>
              <a:t>AI Main Branches </a:t>
            </a:r>
            <a:endParaRPr lang="en-US" b="1" dirty="0" smtClean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9745-FDFF-4CB6-A475-FC0183E981E1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258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937646"/>
            <a:ext cx="8911687" cy="967353"/>
          </a:xfrm>
        </p:spPr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▪ </a:t>
            </a:r>
            <a:r>
              <a:rPr lang="en-US" b="1" dirty="0">
                <a:solidFill>
                  <a:schemeClr val="tx1"/>
                </a:solidFill>
              </a:rPr>
              <a:t>In today's world, technology is growing very fast, and we are getting in touch with different new technologies day by day</a:t>
            </a:r>
            <a:r>
              <a:rPr lang="en-US" b="1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One </a:t>
            </a:r>
            <a:r>
              <a:rPr lang="en-US" b="1" dirty="0">
                <a:solidFill>
                  <a:schemeClr val="tx1"/>
                </a:solidFill>
              </a:rPr>
              <a:t>of the booming technologies of computer science is Artificial Intelligence which is ready to create a new revolution in the world by making intelligent machines. </a:t>
            </a:r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▪ </a:t>
            </a:r>
            <a:r>
              <a:rPr lang="en-US" b="1" dirty="0">
                <a:solidFill>
                  <a:schemeClr val="tx1"/>
                </a:solidFill>
              </a:rPr>
              <a:t>It is currently working with a variety of subfields, ranging from general to specific, such as self-driving cars, surgery, proving theorems, analyzing sentiments and feedbacks, Painting, etc.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3B38D-6083-44D5-B351-7111A7C5B501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062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968644"/>
            <a:ext cx="8911687" cy="936356"/>
          </a:xfrm>
        </p:spPr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2164597"/>
            <a:ext cx="8915400" cy="3777622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▪ AI is one of the fascinating and universal fields of Computer science which has a great scope in future. </a:t>
            </a:r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▪ </a:t>
            </a:r>
            <a:r>
              <a:rPr lang="en-US" b="1" dirty="0">
                <a:solidFill>
                  <a:schemeClr val="tx1"/>
                </a:solidFill>
              </a:rPr>
              <a:t>AI holds a tendency to cause a machine to work as a human</a:t>
            </a:r>
            <a:r>
              <a:rPr lang="en-US" b="1" dirty="0" smtClean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0EDC2-FF6F-4177-B4AA-7BEEF262A06B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496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968644"/>
            <a:ext cx="8911687" cy="936356"/>
          </a:xfrm>
        </p:spPr>
        <p:txBody>
          <a:bodyPr/>
          <a:lstStyle/>
          <a:p>
            <a:r>
              <a:rPr lang="en-US" b="1" dirty="0" smtClean="0"/>
              <a:t>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Artificial Intelligence is composed of two words: </a:t>
            </a:r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▪ </a:t>
            </a:r>
            <a:r>
              <a:rPr lang="en-US" b="1" dirty="0">
                <a:solidFill>
                  <a:schemeClr val="tx1"/>
                </a:solidFill>
              </a:rPr>
              <a:t>Artificial: "man-made” </a:t>
            </a:r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▪ </a:t>
            </a:r>
            <a:r>
              <a:rPr lang="en-US" b="1" dirty="0">
                <a:solidFill>
                  <a:schemeClr val="tx1"/>
                </a:solidFill>
              </a:rPr>
              <a:t>Intelligence: "thinking power" OR “Ability to learn, think, reason, and solve problems” ▪ Hence AI means "a man-made thinking power.“ </a:t>
            </a:r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▪ </a:t>
            </a:r>
            <a:r>
              <a:rPr lang="en-US" b="1" dirty="0">
                <a:solidFill>
                  <a:schemeClr val="tx1"/>
                </a:solidFill>
              </a:rPr>
              <a:t>AI is defined as: "a branch of computer science by which we can create intelligent machines which can behave like a human, think like humans, and able to make decisions.” OR </a:t>
            </a:r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▪ </a:t>
            </a:r>
            <a:r>
              <a:rPr lang="en-US" b="1" dirty="0">
                <a:solidFill>
                  <a:schemeClr val="tx1"/>
                </a:solidFill>
              </a:rPr>
              <a:t>Machines performing tasks that require human intelligence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4E3F-98BF-4B19-BD1A-7FB15E71AABC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156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1007390"/>
            <a:ext cx="8911687" cy="897610"/>
          </a:xfrm>
        </p:spPr>
        <p:txBody>
          <a:bodyPr/>
          <a:lstStyle/>
          <a:p>
            <a:r>
              <a:rPr lang="en-US" b="1" dirty="0"/>
              <a:t>WHY IS AI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▪ </a:t>
            </a:r>
            <a:r>
              <a:rPr lang="en-US" b="1" dirty="0">
                <a:solidFill>
                  <a:schemeClr val="tx1"/>
                </a:solidFill>
              </a:rPr>
              <a:t>Why we should know about AI?, the main reasons are: </a:t>
            </a:r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▪ </a:t>
            </a:r>
            <a:r>
              <a:rPr lang="en-US" b="1" dirty="0">
                <a:solidFill>
                  <a:schemeClr val="tx1"/>
                </a:solidFill>
              </a:rPr>
              <a:t>With the help of AI, you can create such software or devices which can solve real-world problems very easily and with accuracy such as health issues, marketing, traffic issues, etc. </a:t>
            </a:r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▪ </a:t>
            </a:r>
            <a:r>
              <a:rPr lang="en-US" b="1" dirty="0">
                <a:solidFill>
                  <a:schemeClr val="tx1"/>
                </a:solidFill>
              </a:rPr>
              <a:t>With the help of AI, you can create your personal virtual Assistant, such as </a:t>
            </a:r>
            <a:r>
              <a:rPr lang="en-US" b="1" dirty="0" err="1">
                <a:solidFill>
                  <a:schemeClr val="tx1"/>
                </a:solidFill>
              </a:rPr>
              <a:t>Cortana</a:t>
            </a:r>
            <a:r>
              <a:rPr lang="en-US" b="1" dirty="0">
                <a:solidFill>
                  <a:schemeClr val="tx1"/>
                </a:solidFill>
              </a:rPr>
              <a:t>, Google Assistant, </a:t>
            </a:r>
            <a:r>
              <a:rPr lang="en-US" b="1" dirty="0" err="1">
                <a:solidFill>
                  <a:schemeClr val="tx1"/>
                </a:solidFill>
              </a:rPr>
              <a:t>Siri</a:t>
            </a:r>
            <a:r>
              <a:rPr lang="en-US" b="1" dirty="0">
                <a:solidFill>
                  <a:schemeClr val="tx1"/>
                </a:solidFill>
              </a:rPr>
              <a:t>, etc</a:t>
            </a:r>
            <a:r>
              <a:rPr lang="en-US" b="1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▪ With the help of AI, you can build such Robots which can work in an environment where survival of humans can be at risk</a:t>
            </a:r>
            <a:r>
              <a:rPr lang="en-US" b="1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▪ AI opens a path for other new technologies, new devices, and new opportunities.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05C0-27BC-443D-B1CA-829BFD728959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972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MAIN GOALS OF </a:t>
            </a:r>
            <a:r>
              <a:rPr lang="en-US" b="1" dirty="0" smtClean="0"/>
              <a:t>AI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</a:t>
            </a:r>
            <a:r>
              <a:rPr lang="en-US" b="1" dirty="0" smtClean="0">
                <a:solidFill>
                  <a:schemeClr val="tx1"/>
                </a:solidFill>
              </a:rPr>
              <a:t>Replicate </a:t>
            </a:r>
            <a:r>
              <a:rPr lang="en-US" b="1" dirty="0">
                <a:solidFill>
                  <a:schemeClr val="tx1"/>
                </a:solidFill>
              </a:rPr>
              <a:t>human intelligence </a:t>
            </a:r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2</a:t>
            </a:r>
            <a:r>
              <a:rPr lang="en-US" b="1" dirty="0">
                <a:solidFill>
                  <a:schemeClr val="tx1"/>
                </a:solidFill>
              </a:rPr>
              <a:t>. Solve Knowledge-intensive tasks </a:t>
            </a:r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3</a:t>
            </a:r>
            <a:r>
              <a:rPr lang="en-US" b="1" dirty="0">
                <a:solidFill>
                  <a:schemeClr val="tx1"/>
                </a:solidFill>
              </a:rPr>
              <a:t>. An intelligent connection of perception and </a:t>
            </a:r>
            <a:r>
              <a:rPr lang="en-US" b="1" dirty="0" smtClean="0">
                <a:solidFill>
                  <a:schemeClr val="tx1"/>
                </a:solidFill>
              </a:rPr>
              <a:t>action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4. Building a machine which can perform tasks that requires human intelligence such as: ▪ Plan surgery, Driving a car in traffic, Proving a theorem etc</a:t>
            </a:r>
            <a:r>
              <a:rPr lang="en-US" b="1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5. Creating some systems which can exhibit intelligent behavior, learn new things by itself, demonstrate, explain, and can advise to its user.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4D714-EC5A-404A-AF03-4F34591D73FB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051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813661"/>
            <a:ext cx="8911687" cy="1060342"/>
          </a:xfrm>
        </p:spPr>
        <p:txBody>
          <a:bodyPr/>
          <a:lstStyle/>
          <a:p>
            <a:r>
              <a:rPr lang="en-US" b="1" dirty="0"/>
              <a:t>ADVANTAGES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9315" y="1712563"/>
            <a:ext cx="9815297" cy="4843219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▪ </a:t>
            </a:r>
            <a:r>
              <a:rPr lang="en-US" b="1" dirty="0">
                <a:solidFill>
                  <a:schemeClr val="tx1"/>
                </a:solidFill>
              </a:rPr>
              <a:t>The main advantages of Artificial Intelligence</a:t>
            </a:r>
            <a:r>
              <a:rPr lang="en-US" b="1" dirty="0" smtClean="0">
                <a:solidFill>
                  <a:schemeClr val="tx1"/>
                </a:solidFill>
              </a:rPr>
              <a:t>: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▪ </a:t>
            </a:r>
            <a:r>
              <a:rPr lang="en-US" b="1" dirty="0">
                <a:solidFill>
                  <a:schemeClr val="tx1"/>
                </a:solidFill>
              </a:rPr>
              <a:t>High Accuracy with less errors: AI machines or systems are prone to less errors and high accuracy as it takes decisions as per pre-experience or information</a:t>
            </a:r>
            <a:r>
              <a:rPr lang="en-US" b="1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▪ High-Speed: AI systems can be of very high-speed and fast decision making, because of that AI systems can beat a chess champion(Deep blue </a:t>
            </a:r>
            <a:r>
              <a:rPr lang="en-US" b="1" dirty="0" err="1">
                <a:solidFill>
                  <a:schemeClr val="tx1"/>
                </a:solidFill>
              </a:rPr>
              <a:t>vs</a:t>
            </a:r>
            <a:r>
              <a:rPr lang="en-US" b="1" dirty="0">
                <a:solidFill>
                  <a:schemeClr val="tx1"/>
                </a:solidFill>
              </a:rPr>
              <a:t> Gary Kasparov) in the Chess game</a:t>
            </a:r>
            <a:r>
              <a:rPr lang="en-US" b="1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▪ High reliability: AI machines are highly reliable and can perform the same action multiple times with high </a:t>
            </a:r>
            <a:r>
              <a:rPr lang="en-US" b="1" dirty="0" smtClean="0">
                <a:solidFill>
                  <a:schemeClr val="tx1"/>
                </a:solidFill>
              </a:rPr>
              <a:t>accuracy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▪ The main advantages of Artificial Intelligence: </a:t>
            </a:r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▪ </a:t>
            </a:r>
            <a:r>
              <a:rPr lang="en-US" b="1" dirty="0">
                <a:solidFill>
                  <a:schemeClr val="tx1"/>
                </a:solidFill>
              </a:rPr>
              <a:t>Useful for risky areas: AI machines can be helpful in situations such as defusing a bomb, exploring the ocean floor, where to employ a human can be risky</a:t>
            </a:r>
            <a:r>
              <a:rPr lang="en-US" b="1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▪ Digital Assistant: AI can be very useful to provide digital assistant to the users such as AI technology is currently used by various E-commerce websites to show the products as per customer requirement.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5C84-4E76-4F67-AEF2-5CFEE0CFF06C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959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968644"/>
            <a:ext cx="8911687" cy="936356"/>
          </a:xfrm>
        </p:spPr>
        <p:txBody>
          <a:bodyPr/>
          <a:lstStyle/>
          <a:p>
            <a:r>
              <a:rPr lang="en-US" b="1" dirty="0"/>
              <a:t>DISADVANTAGES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▪ </a:t>
            </a:r>
            <a:r>
              <a:rPr lang="en-US" b="1" dirty="0">
                <a:solidFill>
                  <a:schemeClr val="tx1"/>
                </a:solidFill>
              </a:rPr>
              <a:t>High Cost: The hardware and software requirement of AI is very costly as it requires lots of maintenance to meet current world requirements</a:t>
            </a:r>
            <a:r>
              <a:rPr lang="en-US" b="1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▪ Can't think out of the box: Still they cannot work out of the box, as the robot will only do that work for which they are trained, or programmed</a:t>
            </a:r>
            <a:r>
              <a:rPr lang="en-US" b="1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▪ No feelings and emotions: AI machines can be an outstanding performer, but still it does not have the feelings so it cannot make any kind of emotional attachment with human</a:t>
            </a:r>
            <a:r>
              <a:rPr lang="en-US" b="1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▪ Increase dependency on machines: people are getting more dependent on devices and are losing their mental capabilities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5A6EC-9E71-4140-A7D3-DFDCE70E45C1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739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914400"/>
            <a:ext cx="8911687" cy="990600"/>
          </a:xfrm>
        </p:spPr>
        <p:txBody>
          <a:bodyPr/>
          <a:lstStyle/>
          <a:p>
            <a:r>
              <a:rPr lang="en-US" b="1" dirty="0" smtClean="0"/>
              <a:t>Branch of AI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588576"/>
            <a:ext cx="8915400" cy="4322646"/>
          </a:xfrm>
        </p:spPr>
        <p:txBody>
          <a:bodyPr/>
          <a:lstStyle/>
          <a:p>
            <a:r>
              <a:rPr lang="en-US" dirty="0"/>
              <a:t>▪ </a:t>
            </a:r>
            <a:r>
              <a:rPr lang="en-US" b="1" dirty="0">
                <a:solidFill>
                  <a:schemeClr val="tx1"/>
                </a:solidFill>
              </a:rPr>
              <a:t>Machine Learning: AI that learns from data </a:t>
            </a:r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▪ </a:t>
            </a:r>
            <a:r>
              <a:rPr lang="en-US" b="1" dirty="0">
                <a:solidFill>
                  <a:schemeClr val="tx1"/>
                </a:solidFill>
              </a:rPr>
              <a:t>Natural Language Processing: Understanding human </a:t>
            </a:r>
            <a:r>
              <a:rPr lang="en-US" b="1" dirty="0" smtClean="0">
                <a:solidFill>
                  <a:schemeClr val="tx1"/>
                </a:solidFill>
              </a:rPr>
              <a:t>language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▪ Computer Vision: Understanding images and videos </a:t>
            </a:r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▪ </a:t>
            </a:r>
            <a:r>
              <a:rPr lang="en-US" b="1" dirty="0">
                <a:solidFill>
                  <a:schemeClr val="tx1"/>
                </a:solidFill>
              </a:rPr>
              <a:t>Robotics: AI + machines </a:t>
            </a:r>
            <a:endParaRPr lang="en-US" b="1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▪ </a:t>
            </a:r>
            <a:r>
              <a:rPr lang="en-US" b="1" dirty="0">
                <a:solidFill>
                  <a:schemeClr val="tx1"/>
                </a:solidFill>
              </a:rPr>
              <a:t>Expert Systems: Rule-based decision </a:t>
            </a:r>
            <a:r>
              <a:rPr lang="en-US" b="1" dirty="0" smtClean="0">
                <a:solidFill>
                  <a:schemeClr val="tx1"/>
                </a:solidFill>
              </a:rPr>
              <a:t>systems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</a:rPr>
              <a:t>                                                                                           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6981986" y="3350818"/>
            <a:ext cx="3959817" cy="3169403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7532175" y="4049834"/>
            <a:ext cx="2936928" cy="2456481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8117236" y="5127568"/>
            <a:ext cx="1766806" cy="12793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434952" y="3462836"/>
            <a:ext cx="782664" cy="45719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AI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8506631" y="4200552"/>
            <a:ext cx="910525" cy="68907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ML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8692610" y="5719474"/>
            <a:ext cx="724546" cy="511745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427B1-F004-4977-92BE-606147109F28}" type="datetime1">
              <a:rPr lang="en-US" smtClean="0"/>
              <a:t>2/13/2026</a:t>
            </a:fld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12878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65</TotalTime>
  <Words>838</Words>
  <Application>Microsoft Office PowerPoint</Application>
  <PresentationFormat>Widescreen</PresentationFormat>
  <Paragraphs>80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Wingdings</vt:lpstr>
      <vt:lpstr>Wingdings 3</vt:lpstr>
      <vt:lpstr>Wisp</vt:lpstr>
      <vt:lpstr>Introduction AI</vt:lpstr>
      <vt:lpstr>Outline this course</vt:lpstr>
      <vt:lpstr>INTRODUCTION</vt:lpstr>
      <vt:lpstr>INTRODUCTION</vt:lpstr>
      <vt:lpstr>Introduction</vt:lpstr>
      <vt:lpstr>WHY IS AI IMPORTANT?</vt:lpstr>
      <vt:lpstr>MAIN GOALS OF AI</vt:lpstr>
      <vt:lpstr>ADVANTAGES OF AI</vt:lpstr>
      <vt:lpstr>DISADVANTAGES OF AI</vt:lpstr>
      <vt:lpstr>Branch of AI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AI</dc:title>
  <dc:creator>Jaweid</dc:creator>
  <cp:lastModifiedBy>Jaweid</cp:lastModifiedBy>
  <cp:revision>7</cp:revision>
  <dcterms:created xsi:type="dcterms:W3CDTF">2026-02-13T12:13:35Z</dcterms:created>
  <dcterms:modified xsi:type="dcterms:W3CDTF">2026-02-13T13:19:02Z</dcterms:modified>
</cp:coreProperties>
</file>